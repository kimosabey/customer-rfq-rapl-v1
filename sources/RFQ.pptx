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5472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5029200" cy="50292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RFQ HANDLING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— From Customer Enquiry to Order Won/Lost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Disha  |  SCM Intern, Sourcing &amp; Procurement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RANGSONS AEROSPACE</a:t>
            </a:r>
            <a:endParaRPr lang="en-US" sz="1400" dirty="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Departments, One Process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RFQ moves through these teams in sequence before becoming a Won or Lost order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3101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E6F1F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Team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852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contact with customer. Logs, acknowledges, and later sends the final quote.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59936" y="1508760"/>
            <a:ext cx="33101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88536" y="1737360"/>
            <a:ext cx="548640" cy="548640"/>
          </a:xfrm>
          <a:prstGeom prst="ellipse">
            <a:avLst/>
          </a:prstGeom>
          <a:solidFill>
            <a:srgbClr val="ECEBFA"/>
          </a:solidFill>
          <a:ln/>
        </p:spPr>
      </p:sp>
      <p:sp>
        <p:nvSpPr>
          <p:cNvPr id="11" name="Text 9"/>
          <p:cNvSpPr/>
          <p:nvPr/>
        </p:nvSpPr>
        <p:spPr>
          <a:xfrm>
            <a:off x="4288536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88536" y="2423160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88536" y="2788920"/>
            <a:ext cx="2852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customer data is complete. Builds the Product &amp; Process BOM.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71232" y="1508760"/>
            <a:ext cx="33101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99832" y="1737360"/>
            <a:ext cx="548640" cy="548640"/>
          </a:xfrm>
          <a:prstGeom prst="ellipse">
            <a:avLst/>
          </a:prstGeom>
          <a:solidFill>
            <a:srgbClr val="FCEFDC"/>
          </a:solidFill>
          <a:ln/>
        </p:spPr>
      </p:sp>
      <p:sp>
        <p:nvSpPr>
          <p:cNvPr id="16" name="Text 14"/>
          <p:cNvSpPr/>
          <p:nvPr/>
        </p:nvSpPr>
        <p:spPr>
          <a:xfrm>
            <a:off x="7799832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99832" y="2423160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99832" y="2788920"/>
            <a:ext cx="2852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team studies feasibility and risk before quoting.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3101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343400"/>
            <a:ext cx="548640" cy="548640"/>
          </a:xfrm>
          <a:prstGeom prst="ellipse">
            <a:avLst/>
          </a:prstGeom>
          <a:solidFill>
            <a:srgbClr val="DFF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5029200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Team 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5394960"/>
            <a:ext cx="2852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supplier quotations for raw material &amp; special processes.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59936" y="4114800"/>
            <a:ext cx="33101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88536" y="4343400"/>
            <a:ext cx="548640" cy="548640"/>
          </a:xfrm>
          <a:prstGeom prst="ellipse">
            <a:avLst/>
          </a:prstGeom>
          <a:solidFill>
            <a:srgbClr val="FBEAE3"/>
          </a:solidFill>
          <a:ln/>
        </p:spPr>
      </p:sp>
      <p:sp>
        <p:nvSpPr>
          <p:cNvPr id="26" name="Text 24"/>
          <p:cNvSpPr/>
          <p:nvPr/>
        </p:nvSpPr>
        <p:spPr>
          <a:xfrm>
            <a:off x="4288536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88536" y="5029200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88536" y="5394960"/>
            <a:ext cx="2852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final cost sheet and quotation document.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71232" y="4114800"/>
            <a:ext cx="33101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99832" y="4343400"/>
            <a:ext cx="548640" cy="548640"/>
          </a:xfrm>
          <a:prstGeom prst="ellipse">
            <a:avLst/>
          </a:prstGeom>
          <a:solidFill>
            <a:srgbClr val="ECEAE6"/>
          </a:solidFill>
          <a:ln/>
        </p:spPr>
      </p:sp>
      <p:sp>
        <p:nvSpPr>
          <p:cNvPr id="31" name="Text 29"/>
          <p:cNvSpPr/>
          <p:nvPr/>
        </p:nvSpPr>
        <p:spPr>
          <a:xfrm>
            <a:off x="7799832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6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799832" y="5029200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COO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799832" y="5394960"/>
            <a:ext cx="2852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and approval before the quote goes to the customer.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Rangsons Aerospace  |  Customer RFQ Handling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It Starts With the Customer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E6F1FB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07899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960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TEAM (Business Development)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point of contact with the customer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E6F1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1600200"/>
            <a:ext cx="104241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67335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sends RFQ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417320" y="19659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such as Boeing, HAL, or BEL sends a request for quotation by email, customer portal, or letter.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052560" y="1673352"/>
            <a:ext cx="23774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RFQ from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384048" cy="384048"/>
          </a:xfrm>
          <a:prstGeom prst="ellipse">
            <a:avLst/>
          </a:prstGeom>
          <a:solidFill>
            <a:srgbClr val="E6F1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88720" y="2606040"/>
            <a:ext cx="104241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7320" y="267919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Team logs it in the Enquiry Register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17320" y="2971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RFQ is officially recorded — date received, customer name, part, and quantity — so nothing is ever lost.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052560" y="2679192"/>
            <a:ext cx="23774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Enquiry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(RA-MKT-R-01)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384048" cy="384048"/>
          </a:xfrm>
          <a:prstGeom prst="ellipse">
            <a:avLst/>
          </a:prstGeom>
          <a:solidFill>
            <a:srgbClr val="E6F1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65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188720" y="3611880"/>
            <a:ext cx="104241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368503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Team sends acknowledgement email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17320" y="39776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reply confirming the RFQ was received and is being worked on — builds trust with the customer.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052560" y="3685032"/>
            <a:ext cx="23774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Email to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4663440"/>
            <a:ext cx="384048" cy="384048"/>
          </a:xfrm>
          <a:prstGeom prst="ellipse">
            <a:avLst/>
          </a:prstGeom>
          <a:solidFill>
            <a:srgbClr val="E6F1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663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188720" y="4617720"/>
            <a:ext cx="104241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469087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Drawings downloaded &amp; CFT informed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417320" y="49834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Drawings from the customer's email/portal are downloaded, saved to the server, and the CFT (Cross Functional Team) is notified of the new RFQ.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052560" y="4690872"/>
            <a:ext cx="23774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Email to CFT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Rangsons Aerospace  |  Customer RFQ Handling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Engineering Checks, Then CFT Assesses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ECEBFA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078992"/>
            <a:ext cx="219456" cy="219456"/>
          </a:xfrm>
          <a:prstGeom prst="ellipse">
            <a:avLst/>
          </a:prstGeom>
          <a:solidFill>
            <a:srgbClr val="4A3F9E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960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4A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technical details, builds the BOM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ECEBFA"/>
          </a:solidFill>
          <a:ln w="12700">
            <a:solidFill>
              <a:srgbClr val="4A3F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1600200"/>
            <a:ext cx="104241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1417320" y="167335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technical completeness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417320" y="1965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checks if all drawings, specs, tolerances, and special process notes from the customer are complete.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052560" y="1673352"/>
            <a:ext cx="23774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88720" y="2468880"/>
            <a:ext cx="10424160" cy="566928"/>
          </a:xfrm>
          <a:prstGeom prst="roundRect">
            <a:avLst>
              <a:gd name="adj" fmla="val 11290"/>
            </a:avLst>
          </a:prstGeom>
          <a:solidFill>
            <a:srgbClr val="FCEFDC"/>
          </a:solidFill>
          <a:ln w="12700">
            <a:solidFill>
              <a:srgbClr val="C278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246888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Is the customer data adequate (complete)?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246888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8A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request sent back to BD Team for missing details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8A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proceed to build the BOM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384048" cy="384048"/>
          </a:xfrm>
          <a:prstGeom prst="ellipse">
            <a:avLst/>
          </a:prstGeom>
          <a:solidFill>
            <a:srgbClr val="ECEBFA"/>
          </a:solidFill>
          <a:ln w="12700">
            <a:solidFill>
              <a:srgbClr val="4A3F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98245" y="3200400"/>
            <a:ext cx="104241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327355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prepares Product &amp; Process BOM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417320" y="3566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BOM = materials needed. Process BOM = manufacturing steps needed (machining, welding, coating, etc).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52560" y="3273552"/>
            <a:ext cx="23774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Info to SCM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A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(RA-MKT-F-09)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FCEFDC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4279392"/>
            <a:ext cx="219456" cy="219456"/>
          </a:xfrm>
          <a:prstGeom prst="ellipse">
            <a:avLst/>
          </a:prstGeom>
          <a:solidFill>
            <a:srgbClr val="C2780A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160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 (Cross Functional Team)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0" y="4160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8A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+ Quality + SCM + Production together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846320"/>
            <a:ext cx="384048" cy="384048"/>
          </a:xfrm>
          <a:prstGeom prst="ellipse">
            <a:avLst/>
          </a:prstGeom>
          <a:solidFill>
            <a:srgbClr val="FCEFDC"/>
          </a:solidFill>
          <a:ln w="12700">
            <a:solidFill>
              <a:srgbClr val="C278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846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188720" y="4800600"/>
            <a:ext cx="104241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17320" y="487375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 &amp; Risk Assessment Study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417320" y="51663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 studies whether Rangsons can actually manufacture this part, what risks exist, and whether tolerances can be met.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052560" y="4873752"/>
            <a:ext cx="23774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Rangsons Aerospace  |  Customer RFQ Handling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6E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029200" cy="5029200"/>
          </a:xfrm>
          <a:prstGeom prst="ellipse">
            <a:avLst/>
          </a:prstGeom>
          <a:solidFill>
            <a:srgbClr val="12805F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DF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STEP 8 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SCM Team Gets Supplier Quotations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10424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22860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Product BOM from Engineering, the SCM Team contacts approved suppliers to get quotations for: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269748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needed — aluminium, steel, special aerospace-grade alloys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processes — NADCAP coating, welding, heat treatment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essentially a smaller RFQ happening inside the bigger customer RFQ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5074920" cy="1005840"/>
          </a:xfrm>
          <a:prstGeom prst="roundRect">
            <a:avLst>
              <a:gd name="adj" fmla="val 6364"/>
            </a:avLst>
          </a:prstGeom>
          <a:solidFill>
            <a:srgbClr val="12805F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F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4526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BOM (from Engineering)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4160520"/>
            <a:ext cx="5074920" cy="1005840"/>
          </a:xfrm>
          <a:prstGeom prst="roundRect">
            <a:avLst>
              <a:gd name="adj" fmla="val 6364"/>
            </a:avLst>
          </a:prstGeom>
          <a:solidFill>
            <a:srgbClr val="12805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F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4526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Sheet to Estimation Team (RA-MKT-F-09)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4406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F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Rangsons Aerospace  |  Customer RFQ Handling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Estimation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FBEAE3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078992"/>
            <a:ext cx="219456" cy="219456"/>
          </a:xfrm>
          <a:prstGeom prst="ellipse">
            <a:avLst/>
          </a:prstGeom>
          <a:solidFill>
            <a:srgbClr val="C24B27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960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TEAM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A3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final price to quote the customer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BEAE3"/>
          </a:solidFill>
          <a:ln w="12700">
            <a:solidFill>
              <a:srgbClr val="C24B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3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1600200"/>
            <a:ext cx="104241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67335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Estimation Sheet &amp; Quotation Document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417320" y="19659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cost (from SCM) + process cost + labour + profit margin are added together to form the final price.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052560" y="1673352"/>
            <a:ext cx="23774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A3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Quotation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A3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(RA-MKT-F-04)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ECEAE6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2770632"/>
            <a:ext cx="219456" cy="219456"/>
          </a:xfrm>
          <a:prstGeom prst="ellipse">
            <a:avLst/>
          </a:prstGeom>
          <a:solidFill>
            <a:srgbClr val="6B696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6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+ CEO/COO + BD TEAM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56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before sending price to customer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188720" y="3291840"/>
            <a:ext cx="10424160" cy="566928"/>
          </a:xfrm>
          <a:prstGeom prst="roundRect">
            <a:avLst>
              <a:gd name="adj" fmla="val 11290"/>
            </a:avLst>
          </a:prstGeom>
          <a:solidFill>
            <a:srgbClr val="ECEAE6"/>
          </a:solidFill>
          <a:ln w="12700">
            <a:solidFill>
              <a:srgbClr val="6B69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329184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6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Review of the Quote — is it OK?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29184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6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OK → changes recorded as per meeting outcome, quote revised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6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→ quotation ready to send to customer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88720" y="411480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matters: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448056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Team, CEO/COO, and BD Team sit together to review the final price before it ever reaches the customer.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ensures the quote is competitive, covers all real costs, and keeps Rangsons profitable.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rejected internally, it loops back to Estimation for revision — the customer never sees a wrong number.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Rangsons Aerospace  |  Customer RFQ Handling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BD Team Closes the Loop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E6F1FB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07899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960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TEAM (again)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final quote and follows up with customer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E6F1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1600200"/>
            <a:ext cx="104241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67335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Quotation to customer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417320" y="1965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internally approved price document is sent out to the customer, with delivery timeline included.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052560" y="1673352"/>
            <a:ext cx="23774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Quotation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(RA-MKT-F-04)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384048" cy="384048"/>
          </a:xfrm>
          <a:prstGeom prst="ellipse">
            <a:avLst/>
          </a:prstGeom>
          <a:solidFill>
            <a:srgbClr val="E6F1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88720" y="2514600"/>
            <a:ext cx="104241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7320" y="258775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with customer &amp; receive feedback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17320" y="2880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Team actively calls/emails the customer to check on their decision and answer any questions.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052560" y="2587752"/>
            <a:ext cx="23774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Email &amp;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88720" y="3429000"/>
            <a:ext cx="10424160" cy="502920"/>
          </a:xfrm>
          <a:prstGeom prst="roundRect">
            <a:avLst>
              <a:gd name="adj" fmla="val 12727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3429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What does the customer finally decide?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88720" y="4114800"/>
            <a:ext cx="5074920" cy="868680"/>
          </a:xfrm>
          <a:prstGeom prst="roundRect">
            <a:avLst>
              <a:gd name="adj" fmla="val 7368"/>
            </a:avLst>
          </a:prstGeom>
          <a:solidFill>
            <a:srgbClr val="DFF3EB"/>
          </a:solidFill>
          <a:ln w="12700">
            <a:solidFill>
              <a:srgbClr val="1280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41879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Order Won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449884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accepts — moves into production planning &amp; procurement.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46520" y="4114800"/>
            <a:ext cx="5166360" cy="868680"/>
          </a:xfrm>
          <a:prstGeom prst="roundRect">
            <a:avLst>
              <a:gd name="adj" fmla="val 7368"/>
            </a:avLst>
          </a:prstGeom>
          <a:solidFill>
            <a:srgbClr val="FBEAE3"/>
          </a:solidFill>
          <a:ln w="12700">
            <a:solidFill>
              <a:srgbClr val="C24B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1879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Order Lost / Closed / Hold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0" y="449884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3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rejects, chooses another supplier, or project pauses.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5212080"/>
            <a:ext cx="384048" cy="384048"/>
          </a:xfrm>
          <a:prstGeom prst="ellipse">
            <a:avLst/>
          </a:prstGeom>
          <a:solidFill>
            <a:srgbClr val="E6F1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212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188720" y="5166360"/>
            <a:ext cx="104241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523951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Team updates the Enquiry Register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417320" y="5532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the final outcome, it gets recorded back into the same register from Step 2 — giving Rangsons a full history of every RFQ.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052560" y="5239512"/>
            <a:ext cx="23774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Enquiry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(RA-MKT-R-01)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Rangsons Aerospace  |  Customer RFQ Handling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 — Who Does What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377440" cy="749808"/>
          </a:xfrm>
          <a:prstGeom prst="rect">
            <a:avLst/>
          </a:prstGeom>
          <a:solidFill>
            <a:srgbClr val="E6F1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Team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1508760"/>
            <a:ext cx="8686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50876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RFQ, logs it, replies to customer, downloads drawings, sends final quote, follows up, records outcome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2377440" cy="749808"/>
          </a:xfrm>
          <a:prstGeom prst="rect">
            <a:avLst/>
          </a:prstGeom>
          <a:solidFill>
            <a:srgbClr val="ECEB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58568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2258568"/>
            <a:ext cx="8686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258568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customer info is complete, builds the Product &amp; Process BOM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2377440" cy="749808"/>
          </a:xfrm>
          <a:prstGeom prst="rect">
            <a:avLst/>
          </a:prstGeom>
          <a:solidFill>
            <a:srgbClr val="FCEF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08376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3008376"/>
            <a:ext cx="8686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3008376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Rangsons can actually make the part, studies risks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2377440" cy="749808"/>
          </a:xfrm>
          <a:prstGeom prst="rect">
            <a:avLst/>
          </a:prstGeom>
          <a:solidFill>
            <a:srgbClr val="DFF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58184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Team 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926080" y="3758184"/>
            <a:ext cx="8686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3758184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price quotations from suppliers for raw material &amp; special processes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07992"/>
            <a:ext cx="2377440" cy="749808"/>
          </a:xfrm>
          <a:prstGeom prst="rect">
            <a:avLst/>
          </a:prstGeom>
          <a:solidFill>
            <a:srgbClr val="FBEA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50799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26080" y="4507992"/>
            <a:ext cx="8686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4507992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final price to quote the customer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2377440" cy="749808"/>
          </a:xfrm>
          <a:prstGeom prst="rect">
            <a:avLst/>
          </a:prstGeom>
          <a:solidFill>
            <a:srgbClr val="ECEA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257800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6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COO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926080" y="5257800"/>
            <a:ext cx="8686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525780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approves the final price before it goes to the customer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Rangsons Aerospace  |  Customer RFQ Handling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Process in One 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755648"/>
            <a:ext cx="19293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sends RFQ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697480" y="169164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62072" y="14630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53512" y="1508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71800" y="1755648"/>
            <a:ext cx="19293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logs &amp; acknowledges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10912" y="169164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75504" y="14630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6944" y="1508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85232" y="1755648"/>
            <a:ext cx="19293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checks data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24344" y="169164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88936" y="14630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0376" y="1508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98664" y="1755648"/>
            <a:ext cx="19293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prepared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37776" y="169164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802368" y="14630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93808" y="1508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12096" y="1755648"/>
            <a:ext cx="19293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 studies feasibility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8346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880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3127248"/>
            <a:ext cx="19293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gets supplier quotes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97480" y="306324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862072" y="28346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53512" y="2880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71800" y="3127248"/>
            <a:ext cx="19293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builds price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10912" y="306324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175504" y="28346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66944" y="2880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85232" y="3127248"/>
            <a:ext cx="19293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reviews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324344" y="306324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488936" y="28346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0376" y="2880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98664" y="3127248"/>
            <a:ext cx="19293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sends quote to customer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637776" y="3063240"/>
            <a:ext cx="21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802368" y="28346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1C7293">
              <a:alpha val="8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93808" y="2880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912096" y="3127248"/>
            <a:ext cx="19293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or Lost recorded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68680" y="52852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68680" y="5715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Rangsons Aerospace  |  Customer RFQ Handling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1063</Words>
  <Application>Microsoft Office PowerPoint</Application>
  <PresentationFormat>Widescreen</PresentationFormat>
  <Paragraphs>184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RFQ Handling Process - Rangsons Aerospace</dc:title>
  <dc:subject>PptxGenJS Presentation</dc:subject>
  <dc:creator>Disha</dc:creator>
  <cp:lastModifiedBy>disha prashanth</cp:lastModifiedBy>
  <cp:revision>3</cp:revision>
  <dcterms:created xsi:type="dcterms:W3CDTF">2026-06-30T05:01:28Z</dcterms:created>
  <dcterms:modified xsi:type="dcterms:W3CDTF">2026-06-30T05:46:11Z</dcterms:modified>
</cp:coreProperties>
</file>